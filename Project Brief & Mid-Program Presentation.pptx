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58" r:id="rId6"/>
    <p:sldId id="260" r:id="rId7"/>
    <p:sldId id="282" r:id="rId8"/>
    <p:sldId id="259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>
        <p:scale>
          <a:sx n="75" d="100"/>
          <a:sy n="75" d="100"/>
        </p:scale>
        <p:origin x="1950" y="768"/>
      </p:cViewPr>
      <p:guideLst/>
    </p:cSldViewPr>
  </p:slideViewPr>
  <p:outlineViewPr>
    <p:cViewPr>
      <p:scale>
        <a:sx n="33" d="100"/>
        <a:sy n="33" d="100"/>
      </p:scale>
      <p:origin x="0" y="-70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802E2C-B7D8-04C8-C240-1A3E4E91E1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71AFC-D318-FD5E-08E7-6BAF47EACD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CA9B3-7F4F-4A4D-9632-82479A1CD351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1FBEE-E86F-B722-5F1D-3ACBA8E486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72E68-1D54-CEDB-2E8C-3CA510A90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5CF68-C9C2-4072-AAE6-9B71EFC0ED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84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7D6A3-58FC-498D-8FCC-F158510A9658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DD3C7-09A3-4FAE-BEB8-19FEF1926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delhi/comments/1oqzcf7/many_people_confuse_aqi_with_pm25_heres_the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tmotube.com/blog/what-is-pm2-5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PM₂.₅, NO₂, and O₃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three of the most common and heavily monitored air pollutants used to calculate the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Air Quality Index (AQI)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you see these numbers on a weather app or an air purifier, they are measuring different types of harmful substances in the air around you.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direct breakdown of what each one means: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Pollutant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Name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It Actually Is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Sources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It’s Dangerous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PM₂.₅Fine Particulate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Microscopic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solid particles or liquid droplets suspended in the air that are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2.5 micrometers or smaller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width. (About 30 times smaller than a human hair).Wildfires, wood-burning stoves, vehicle exhaust, and industrial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smokestacks.Because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are so tiny, they can bypass your body's natural defenses, traveling deep into your lungs and even entering your bloodstream.</a:t>
            </a:r>
          </a:p>
          <a:p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NO₂Nitrogen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Dioxide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highly reactive, toxic gas. In very high concentrations, it can look like a reddish-brown haze and has a sharp, acrid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smell.Burning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fossil fuels—primarily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 emissions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trucks, power plants, and gas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stoves.It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severely inflames the respiratory tract, making breathing difficult and worsening conditions like asthma. It also reacts with other chemicals to form ozone and smog.</a:t>
            </a:r>
          </a:p>
          <a:p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O₃Ozone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(Ground-Level)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gas made of three oxygen atoms. While "good" ozone high up in the atmosphere shields us from the sun,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ground-level ozone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toxic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pollutant.It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"secondary pollutant" created when NO₂ and other chemicals bake in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heat and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sunlight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acts as a powerful lung irritant, causing a "burning" sensation, coughing, and long-term lung tissue damage. Ozone levels are usually highest on sunny summer afternoons.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273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NYC Department of Health and Mental Hygiene (DOHMH)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Environment &amp; Health Data Portal and Real-Time Air Quality Feeds</a:t>
            </a: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Dataset Overview</a:t>
            </a: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Last Updated: June 18, 2026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Approximately 19,800 records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12 data attributes</a:t>
            </a: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Unit of Analysis</a:t>
            </a: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Individual air quality measurement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Indexed by a unique record ID</a:t>
            </a: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Geographic &amp; Temporal Coverage</a:t>
            </a: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Multi-year air quality surveillance across New York City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Coverage includes: 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Boroughs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Community Districts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UHF (United Hospital Fund) Neighborhoods</a:t>
            </a: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Key Strengths for Analysis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Fine-grained neighborhood-level monitoring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Supports spatial comparisons across NYC communities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Enables linkage between air quality indicators and public health outcomes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Suitable for equity and environmental justice analyses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 Office of Management and Budget (OMB)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Climate Budgeting Report: New Climate Investments and Reallocations in Executive Plan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 Overview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Updated: June 2, 2026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 110 records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data attributes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of Analysis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climate investment or funding allocation by program and fiscal year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York City climate-related capital and expense investments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 fiscal year reporting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Strengths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 new and reallocated climate funding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Distinguishes capital versus expense investments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climate budget and funding trend analysis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transparency of NYC climate spending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Provider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Office of Management and Budget (OMB)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Frequency: Annually</a:t>
            </a:r>
          </a:p>
          <a:p>
            <a:pPr marL="342900" lvl="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57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0901-508A-644B-F79C-34A525CE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C6C6F-12EC-16E9-6976-60EC27972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69CB4-3B6A-AEAC-3BA2-3B6E48399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23188-1EFB-982B-D50B-4E4C394DE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129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81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41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7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7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E0F137D-A107-4C30-1807-F4F7054E2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352"/>
          <a:stretch/>
        </p:blipFill>
        <p:spPr>
          <a:xfrm>
            <a:off x="6634824" y="4335877"/>
            <a:ext cx="3617025" cy="252212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E9B0889-CF84-D54E-684F-B32B7C32F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950" t="24936"/>
          <a:stretch/>
        </p:blipFill>
        <p:spPr>
          <a:xfrm>
            <a:off x="0" y="0"/>
            <a:ext cx="6136802" cy="53125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54954" y="295729"/>
            <a:ext cx="9219857" cy="521244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lang="en-US" sz="7200" cap="all" baseline="0" dirty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6AF80AB-FACE-F1B9-4849-8D42D0E99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B1614F1-AC58-23AB-10D3-AD1A2DB4E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B60D03-E48F-E1A2-990A-3597EB2D6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008C049B-BC0B-4B08-98F2-2F28A95589EF}" type="datetime1">
              <a:rPr lang="en-US" smtClean="0"/>
              <a:t>10/29/2026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0327" y="1063416"/>
            <a:ext cx="5393901" cy="171788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0328" y="3048000"/>
            <a:ext cx="5415672" cy="26816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00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DD6F9074-1B4E-5E8C-9535-C9F3DBCB0E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688" y="1063415"/>
            <a:ext cx="3932462" cy="4666185"/>
          </a:xfrm>
          <a:ln w="19050">
            <a:solidFill>
              <a:schemeClr val="accent5"/>
            </a:solidFill>
          </a:ln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6962B4-C5C1-2C06-CDBB-3A833613E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D0720ED-19EE-CA87-F4E1-BEB718D2D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AABE175-2F64-B079-5725-D1B3F6E7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F8DF0A98-853B-482C-B32A-A0B2FBEDB08A}" type="datetime1">
              <a:rPr lang="en-US" smtClean="0"/>
              <a:t>10/29/2026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2B6A54-B30C-D556-D0DE-A74838C4B2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5070"/>
            <a:ext cx="9888569" cy="57429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4956" y="898072"/>
            <a:ext cx="8825657" cy="4174584"/>
          </a:xfrm>
          <a:prstGeom prst="rect">
            <a:avLst/>
          </a:prstGeom>
        </p:spPr>
        <p:txBody>
          <a:bodyPr anchor="b"/>
          <a:lstStyle>
            <a:lvl1pPr algn="l">
              <a:defRPr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54955" y="5273202"/>
            <a:ext cx="8825658" cy="530697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487BC-BC8A-54BD-C419-2D05ED6AA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76BF7-B63F-0888-5F54-CD72867FB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26E76206-B91F-4CF6-9C9E-5D7AE9457F28}" type="datetime1">
              <a:rPr lang="en-US" smtClean="0"/>
              <a:t>10/29/2026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D9EB9-82A1-C618-9290-18D7FE005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210" y="0"/>
            <a:ext cx="106855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255" y="854528"/>
            <a:ext cx="9309359" cy="1653180"/>
          </a:xfrm>
          <a:prstGeom prst="rect">
            <a:avLst/>
          </a:prstGeom>
        </p:spPr>
        <p:txBody>
          <a:bodyPr anchor="b"/>
          <a:lstStyle>
            <a:lvl1pPr algn="l">
              <a:defRPr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8E7A19-538F-105E-346C-E5F13C4F28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1513" y="2754313"/>
            <a:ext cx="8281987" cy="3704853"/>
          </a:xfrm>
        </p:spPr>
        <p:txBody>
          <a:bodyPr/>
          <a:lstStyle>
            <a:lvl1pPr marL="0" indent="0">
              <a:buClr>
                <a:schemeClr val="accent5"/>
              </a:buClr>
              <a:buFont typeface="Arial" panose="020B0604020202020204" pitchFamily="34" charset="0"/>
              <a:buNone/>
              <a:defRPr sz="1800">
                <a:latin typeface="+mn-lt"/>
              </a:defRPr>
            </a:lvl1pPr>
            <a:lvl2pPr marL="7429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2001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543050" indent="-171450">
              <a:buClr>
                <a:schemeClr val="accent5"/>
              </a:buClr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2000250" indent="-171450">
              <a:buClr>
                <a:schemeClr val="accent5"/>
              </a:buClr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45F7BDA-B43D-4F75-1B2C-695379E05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5B1EB8-4F24-00EB-0B8F-08411FD49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9AE200-BA9A-95A3-1949-71A16F89F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EB87CC03-CB18-48B5-8067-881A2EE1B36F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6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6">
            <a:extLst>
              <a:ext uri="{FF2B5EF4-FFF2-40B4-BE49-F238E27FC236}">
                <a16:creationId xmlns:a16="http://schemas.microsoft.com/office/drawing/2014/main" id="{D364E0E9-423E-A1E7-E8AF-3641993CD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67256" y="847398"/>
            <a:ext cx="2578130" cy="25908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AC4E4-FABB-B671-BAE1-2B39A205F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76700" cy="3244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4D362D-3D74-9753-19E0-60569A7EA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61614" y="5267294"/>
            <a:ext cx="1794306" cy="15907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4956" y="1063416"/>
            <a:ext cx="8825657" cy="4009239"/>
          </a:xfrm>
          <a:prstGeom prst="rect">
            <a:avLst/>
          </a:prstGeom>
        </p:spPr>
        <p:txBody>
          <a:bodyPr anchor="b"/>
          <a:lstStyle>
            <a:lvl1pPr algn="l">
              <a:defRPr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54955" y="5273202"/>
            <a:ext cx="8825658" cy="530697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6D8D262-64DE-D942-D418-187679942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70F63B5-8303-CB73-3AF8-1FED6C8CB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D03B46-D230-4B37-BD92-6E2DBC47B36E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7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6111" y="2256937"/>
            <a:ext cx="10225090" cy="1612934"/>
          </a:xfrm>
        </p:spPr>
        <p:txBody>
          <a:bodyPr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6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6111" y="4370613"/>
            <a:ext cx="10225089" cy="2185829"/>
          </a:xfrm>
        </p:spPr>
        <p:txBody>
          <a:bodyPr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B015-E048-DF96-2AE2-926E178F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545F95-B059-079A-0269-07D99C073E3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3226CAB0-904D-44A6-8A42-971A697FA4F2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4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4922" y="1063415"/>
            <a:ext cx="5897391" cy="197161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algn="l">
              <a:lnSpc>
                <a:spcPct val="80000"/>
              </a:lnSpc>
              <a:defRPr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6572C7-BE6B-5F13-DC52-EDC4CE8F41D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4525" y="3035029"/>
            <a:ext cx="5897563" cy="2759345"/>
          </a:xfrm>
        </p:spPr>
        <p:txBody>
          <a:bodyPr anchor="b"/>
          <a:lstStyle>
            <a:lvl1pPr marL="283464" indent="-283464">
              <a:buClr>
                <a:schemeClr val="accent5"/>
              </a:buClr>
              <a:defRPr sz="1800">
                <a:latin typeface="+mn-lt"/>
              </a:defRPr>
            </a:lvl1pPr>
            <a:lvl2pPr>
              <a:buClr>
                <a:schemeClr val="accent5"/>
              </a:buClr>
              <a:defRPr sz="1600">
                <a:latin typeface="+mn-lt"/>
              </a:defRPr>
            </a:lvl2pPr>
            <a:lvl3pPr>
              <a:buClr>
                <a:schemeClr val="accent5"/>
              </a:buClr>
              <a:defRPr sz="1400">
                <a:latin typeface="+mn-lt"/>
              </a:defRPr>
            </a:lvl3pPr>
            <a:lvl4pPr>
              <a:buClr>
                <a:schemeClr val="accent5"/>
              </a:buClr>
              <a:defRPr sz="1200">
                <a:latin typeface="+mn-lt"/>
              </a:defRPr>
            </a:lvl4pPr>
            <a:lvl5pPr>
              <a:buClr>
                <a:schemeClr val="accent5"/>
              </a:buCl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34F55F0-22D4-40B0-49A9-AB4AF26B65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063625"/>
            <a:ext cx="3824288" cy="4730750"/>
          </a:xfrm>
          <a:ln w="19050">
            <a:solidFill>
              <a:schemeClr val="accent5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699564-CACA-76F2-01D1-D84D99A68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18FAB-ACF2-EAE6-83C7-5D92BAE57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697C765-F4EE-7492-92E7-E22B8E9C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131D29BA-018B-4A78-950B-75527D399E98}" type="datetime1">
              <a:rPr lang="en-US" smtClean="0"/>
              <a:t>10/29/2026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6111" y="2149928"/>
            <a:ext cx="4926096" cy="4028585"/>
          </a:xfrm>
        </p:spPr>
        <p:txBody>
          <a:bodyPr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6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45103" y="2149892"/>
            <a:ext cx="4926097" cy="4028622"/>
          </a:xfrm>
        </p:spPr>
        <p:txBody>
          <a:bodyPr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B015-E048-DF96-2AE2-926E178F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545F95-B059-079A-0269-07D99C073E3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F9DEC7E7-8658-4432-9E89-1548FF41691A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1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6111" y="609600"/>
            <a:ext cx="10238392" cy="1243648"/>
          </a:xfrm>
          <a:prstGeom prst="rect">
            <a:avLst/>
          </a:prstGeom>
        </p:spPr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F53C0-C8E9-17B4-1C4C-1AD5D5287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112" y="2035175"/>
            <a:ext cx="3120346" cy="4213225"/>
          </a:xfrm>
        </p:spPr>
        <p:txBody>
          <a:bodyPr/>
          <a:lstStyle>
            <a:lvl1pPr>
              <a:buClr>
                <a:schemeClr val="accent5"/>
              </a:buClr>
              <a:defRPr sz="1800">
                <a:latin typeface="+mn-lt"/>
              </a:defRPr>
            </a:lvl1pPr>
            <a:lvl2pPr>
              <a:buClr>
                <a:schemeClr val="accent5"/>
              </a:buClr>
              <a:defRPr sz="1800">
                <a:latin typeface="+mn-lt"/>
              </a:defRPr>
            </a:lvl2pPr>
            <a:lvl3pPr>
              <a:buClr>
                <a:schemeClr val="accent5"/>
              </a:buClr>
              <a:defRPr sz="1800">
                <a:latin typeface="+mn-lt"/>
              </a:defRPr>
            </a:lvl3pPr>
            <a:lvl4pPr>
              <a:buClr>
                <a:schemeClr val="accent5"/>
              </a:buClr>
              <a:defRPr sz="1800">
                <a:latin typeface="+mn-lt"/>
              </a:defRPr>
            </a:lvl4pPr>
            <a:lvl5pPr>
              <a:buClr>
                <a:schemeClr val="accent5"/>
              </a:buClr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203FD85-4B08-E583-F5AA-2C363470F493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3967163" y="2035175"/>
            <a:ext cx="6926262" cy="4213225"/>
          </a:xfrm>
        </p:spPr>
        <p:txBody>
          <a:bodyPr/>
          <a:lstStyle>
            <a:lvl1pPr>
              <a:buClr>
                <a:schemeClr val="accent5"/>
              </a:buCl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F87D01-09AC-BFDF-523E-9A386E3D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305BA-BC81-56ED-E20B-2D5D41E69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9852A62-9FCC-F35D-576B-3A9CF7D90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9A407B6D-4EF2-46B1-90CE-F72E9577ACD9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65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6111" y="609600"/>
            <a:ext cx="10238392" cy="1243648"/>
          </a:xfrm>
          <a:prstGeom prst="rect">
            <a:avLst/>
          </a:prstGeom>
        </p:spPr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B6D69E5-7A08-BC78-BCE3-11E38F6150D4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46113" y="2035175"/>
            <a:ext cx="10237787" cy="4213225"/>
          </a:xfrm>
        </p:spPr>
        <p:txBody>
          <a:bodyPr/>
          <a:lstStyle>
            <a:lvl1pPr>
              <a:buClr>
                <a:schemeClr val="accent5"/>
              </a:buCl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F87D01-09AC-BFDF-523E-9A386E3D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87F92C-6129-374B-AC33-0BF37E93C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384D68-6CA3-DF1A-6774-1B19B01C1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3A62BBD8-00B0-44DA-B91E-B280499F38AF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7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E49D32-7E02-6995-B5F5-934D0B438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100963" y="4592380"/>
            <a:ext cx="1794306" cy="159070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4D218B9-452E-86CD-0D08-9F67028FE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978075" cy="200988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ACA99D-5B58-73F1-094E-AB921A7F6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29409" y="295728"/>
            <a:ext cx="0" cy="6259437"/>
          </a:xfrm>
          <a:prstGeom prst="line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4956" y="1063416"/>
            <a:ext cx="6742629" cy="4675705"/>
          </a:xfrm>
          <a:prstGeom prst="rect">
            <a:avLst/>
          </a:prstGeom>
        </p:spPr>
        <p:txBody>
          <a:bodyPr anchor="b"/>
          <a:lstStyle>
            <a:lvl1pPr algn="l">
              <a:defRPr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E12CB0-2C35-CEF5-3F43-62E8FFE9F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36103" y="305457"/>
            <a:ext cx="2847975" cy="6236208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0F4EEFE-BF6E-3C7A-54B6-7728A6E51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15A696F-4F73-1678-9973-0EA3B62D8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69CF978F-742F-4396-8C45-8D7AF4520570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24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4B29688-DF70-05FA-D6B7-761E114D045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6110" y="2149929"/>
            <a:ext cx="6199724" cy="4028622"/>
          </a:xfrm>
        </p:spPr>
        <p:txBody>
          <a:bodyPr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2001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573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1145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94AC0E-FD4A-515B-8B99-4BDDECAD7DC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211786" y="2149929"/>
            <a:ext cx="3659414" cy="4028622"/>
          </a:xfrm>
        </p:spPr>
        <p:txBody>
          <a:bodyPr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6F2C45-AA33-6953-F362-70B8E58B9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F346C-9289-DAC3-4D24-EDB5A64E4D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2E0B7E05-FC20-44A1-B3B6-E1F90DDD67D7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73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31BC32-6525-5D4C-65FB-434B14F17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2000"/>
            <a:ext cx="4410126" cy="53848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6DDF47B-4AEC-7B71-4811-29DA88850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3042" y="3991221"/>
            <a:ext cx="2156632" cy="21971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19688A-41C9-E2A9-D0EB-D213ACE23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195957" y="295728"/>
            <a:ext cx="0" cy="6259437"/>
          </a:xfrm>
          <a:prstGeom prst="line">
            <a:avLst/>
          </a:prstGeom>
          <a:noFill/>
          <a:ln w="15875">
            <a:gradFill>
              <a:gsLst>
                <a:gs pos="0">
                  <a:schemeClr val="accent5"/>
                </a:gs>
                <a:gs pos="100000">
                  <a:schemeClr val="accent5">
                    <a:lumMod val="50000"/>
                  </a:schemeClr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9B9DA595-C83D-742C-5258-EA4215FD46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3731" y="876301"/>
            <a:ext cx="4949368" cy="337185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lang="en-US" sz="4400" cap="all" baseline="0" dirty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9F9E9671-EF9A-744A-ACDF-3AA17A32AE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83732" y="4095751"/>
            <a:ext cx="4949366" cy="1993900"/>
          </a:xfrm>
        </p:spPr>
        <p:txBody>
          <a:bodyPr lIns="0" anchor="ctr"/>
          <a:lstStyle>
            <a:lvl1pPr marL="0" indent="0" algn="l">
              <a:lnSpc>
                <a:spcPct val="150000"/>
              </a:lnSpc>
              <a:buNone/>
              <a:defRPr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A25345A-4332-7458-BF6E-B3EC1D4FC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F39E534-D5FC-2E3E-1997-F7B8482B8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965431-1331-1690-65D0-1537F7DDF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4D09747B-A127-40CC-8C3A-7A7B8E925519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1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>
              <a:defRPr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AB64F2-0CD7-2BAB-A3C7-CCDEFB78F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8FA905-8C94-EAB7-38E5-5EC276ACB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B6289E3-65FA-EFC4-103C-783A6842A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96F46445-B370-4073-A9E0-F381B9FBBD87}" type="datetime1">
              <a:rPr lang="en-US" smtClean="0"/>
              <a:t>10/29/2026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0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84FD26-B27E-89C1-EC74-7F337279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F38330-42A6-CBDC-49D5-6651820A4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195957" y="295728"/>
            <a:ext cx="0" cy="6259437"/>
          </a:xfrm>
          <a:prstGeom prst="line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80194AA-3CF1-8747-1BCF-A8D4F49A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0243" y="288622"/>
            <a:ext cx="11582400" cy="6266543"/>
          </a:xfrm>
          <a:prstGeom prst="rect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fld id="{432CF485-28BA-4659-B624-AA1C49B2E30F}" type="datetime1">
              <a:rPr lang="en-US" smtClean="0"/>
              <a:t>10/29/2026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1" r:id="rId3"/>
    <p:sldLayoutId id="2147483680" r:id="rId4"/>
    <p:sldLayoutId id="2147483679" r:id="rId5"/>
    <p:sldLayoutId id="2147483677" r:id="rId6"/>
    <p:sldLayoutId id="2147483668" r:id="rId7"/>
    <p:sldLayoutId id="2147483686" r:id="rId8"/>
    <p:sldLayoutId id="2147483678" r:id="rId9"/>
    <p:sldLayoutId id="2147483671" r:id="rId10"/>
    <p:sldLayoutId id="2147483681" r:id="rId11"/>
    <p:sldLayoutId id="2147483682" r:id="rId12"/>
    <p:sldLayoutId id="2147483674" r:id="rId13"/>
    <p:sldLayoutId id="2147483684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20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4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4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93C04B-6761-04E9-9F25-E406E4FD7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4411" y="1923807"/>
            <a:ext cx="10063173" cy="211293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Project Brief &amp; Mid-Program Presentation 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49183-CA69-9D21-B743-6E5B59757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88BC13-E736-2460-C355-1D0ED3CBB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041606"/>
              </p:ext>
            </p:extLst>
          </p:nvPr>
        </p:nvGraphicFramePr>
        <p:xfrm>
          <a:off x="1200282" y="559607"/>
          <a:ext cx="9791432" cy="10076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791432">
                  <a:extLst>
                    <a:ext uri="{9D8B030D-6E8A-4147-A177-3AD203B41FA5}">
                      <a16:colId xmlns:a16="http://schemas.microsoft.com/office/drawing/2014/main" val="135101841"/>
                    </a:ext>
                  </a:extLst>
                </a:gridCol>
              </a:tblGrid>
              <a:tr h="100761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US" sz="4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NYC Air Quality &amp; Health Impacts</a:t>
                      </a:r>
                      <a:endParaRPr lang="en-US" sz="4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671380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F69970-0DC7-7FB3-7D75-02AFB793F844}"/>
              </a:ext>
            </a:extLst>
          </p:cNvPr>
          <p:cNvSpPr txBox="1"/>
          <p:nvPr/>
        </p:nvSpPr>
        <p:spPr>
          <a:xfrm>
            <a:off x="289933" y="5652062"/>
            <a:ext cx="1083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TEAM: Derick, Lupita, </a:t>
            </a:r>
            <a:r>
              <a:rPr lang="en-US" b="1" dirty="0" err="1">
                <a:solidFill>
                  <a:schemeClr val="bg1"/>
                </a:solidFill>
              </a:rPr>
              <a:t>Guhfran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02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88A2-E914-815C-661F-1399C3A8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52" y="335016"/>
            <a:ext cx="5393901" cy="1717884"/>
          </a:xfrm>
        </p:spPr>
        <p:txBody>
          <a:bodyPr anchor="t"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6C5F0-EDFB-3E80-40C5-F4D4D08AC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4641" y="764190"/>
            <a:ext cx="5415672" cy="5597793"/>
          </a:xfrm>
        </p:spPr>
        <p:txBody>
          <a:bodyPr anchor="b">
            <a:noAutofit/>
          </a:bodyPr>
          <a:lstStyle/>
          <a:p>
            <a:pPr fontAlgn="t"/>
            <a:r>
              <a:rPr lang="en-US" sz="1100" b="1" dirty="0">
                <a:solidFill>
                  <a:schemeClr val="bg1"/>
                </a:solidFill>
              </a:rPr>
              <a:t>Air Pollution and Health Inequities in NYC</a:t>
            </a:r>
            <a:endParaRPr lang="en-US" sz="1100" dirty="0">
              <a:solidFill>
                <a:schemeClr val="bg1"/>
              </a:solidFill>
            </a:endParaRP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Key Issues</a:t>
            </a: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Unequal exposure to air pollution across neighborhoods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Higher health risks in vulnerable communities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Impacts include asthma, heart disease, cancer, and premature death</a:t>
            </a:r>
          </a:p>
          <a:p>
            <a:pPr fontAlgn="t"/>
            <a:r>
              <a:rPr lang="en-US" sz="1100" b="1" dirty="0">
                <a:solidFill>
                  <a:schemeClr val="bg1"/>
                </a:solidFill>
              </a:rPr>
              <a:t>Research Questions</a:t>
            </a:r>
            <a:endParaRPr lang="en-US" sz="1100" dirty="0">
              <a:solidFill>
                <a:schemeClr val="bg1"/>
              </a:solidFill>
            </a:endParaRPr>
          </a:p>
          <a:p>
            <a:pPr marL="342900" lvl="0" indent="-342900" fontAlgn="t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How do PM₂.₅(</a:t>
            </a:r>
            <a:r>
              <a:rPr lang="en-US" sz="1100" dirty="0"/>
              <a:t>Fine Particulate Matter)</a:t>
            </a:r>
            <a:r>
              <a:rPr lang="en-US" sz="1100" dirty="0">
                <a:solidFill>
                  <a:schemeClr val="bg1"/>
                </a:solidFill>
              </a:rPr>
              <a:t>, NO₂ (</a:t>
            </a:r>
            <a:r>
              <a:rPr lang="en-US" sz="1100" dirty="0"/>
              <a:t>Nitrogen Dioxide)</a:t>
            </a:r>
            <a:r>
              <a:rPr lang="en-US" sz="1100" dirty="0">
                <a:solidFill>
                  <a:schemeClr val="bg1"/>
                </a:solidFill>
              </a:rPr>
              <a:t>, and O₃(</a:t>
            </a:r>
            <a:r>
              <a:rPr lang="en-US" sz="1100" dirty="0"/>
              <a:t>Ozone (Ground-Level))</a:t>
            </a:r>
            <a:r>
              <a:rPr lang="en-US" sz="1100" dirty="0">
                <a:solidFill>
                  <a:schemeClr val="bg1"/>
                </a:solidFill>
              </a:rPr>
              <a:t> levels vary across NYC?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Are vulnerable populations exposed to higher pollution levels?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Can air quality data predict respiratory and cardiovascular health disparities?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How do pollution hotspots align with climate investment areas?</a:t>
            </a:r>
          </a:p>
        </p:txBody>
      </p:sp>
      <p:pic>
        <p:nvPicPr>
          <p:cNvPr id="34" name="Content Placeholder 22" descr="Scientists in lab">
            <a:extLst>
              <a:ext uri="{FF2B5EF4-FFF2-40B4-BE49-F238E27FC236}">
                <a16:creationId xmlns:a16="http://schemas.microsoft.com/office/drawing/2014/main" id="{9E4D4191-282B-E07E-4C6D-AD1D7B7D471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1688" y="1063415"/>
            <a:ext cx="3932462" cy="4666185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1DBBF-A6A0-06FE-F8CD-795DE86F2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6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D882-0AB0-D7CC-2028-F2498855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53" y="295729"/>
            <a:ext cx="4941044" cy="1133633"/>
          </a:xfrm>
        </p:spPr>
        <p:txBody>
          <a:bodyPr/>
          <a:lstStyle/>
          <a:p>
            <a:r>
              <a:rPr lang="en-US" sz="3600" b="1" dirty="0"/>
              <a:t>Data Profile &amp; Scope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91F6-17E5-A05E-27E8-5CE8F5737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2386" y="1574816"/>
            <a:ext cx="3517627" cy="623620"/>
          </a:xfrm>
        </p:spPr>
        <p:txBody>
          <a:bodyPr>
            <a:noAutofit/>
          </a:bodyPr>
          <a:lstStyle/>
          <a:p>
            <a:r>
              <a:rPr lang="en-US" sz="1400" b="1" dirty="0"/>
              <a:t>Air Quality and Health Impacts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87364-737B-EA8D-F6D8-BCE5B8353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F35FD-3636-C18A-91B5-4F25F7D30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504" y="2624685"/>
            <a:ext cx="3343742" cy="31817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EDD517-FB89-6E76-3860-8AA5E16FA27C}"/>
              </a:ext>
            </a:extLst>
          </p:cNvPr>
          <p:cNvSpPr txBox="1"/>
          <p:nvPr/>
        </p:nvSpPr>
        <p:spPr>
          <a:xfrm>
            <a:off x="6096000" y="1429362"/>
            <a:ext cx="4150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NYC Climate Budgeting Report: New Climate Investments And Reallocations In Executive Plan</a:t>
            </a:r>
          </a:p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BCF845-59F7-42B4-DC4D-3492D95C9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635" y="2879122"/>
            <a:ext cx="4040705" cy="2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3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6374-A836-6243-86BA-E3E0D0C3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6ECD-731D-1FCA-BFE5-504E1FFA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17" y="295729"/>
            <a:ext cx="5624284" cy="576107"/>
          </a:xfrm>
        </p:spPr>
        <p:txBody>
          <a:bodyPr/>
          <a:lstStyle/>
          <a:p>
            <a:r>
              <a:rPr lang="en-US" b="1" dirty="0"/>
              <a:t>Initial EDA &amp; Visuals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DB9BF-4212-7F04-2C03-914E8C6BD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33FBD-6987-D16B-AD11-1BA24808F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9" y="871836"/>
            <a:ext cx="4005941" cy="5722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6D463E-4832-4654-1AC9-150191EEA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1399597"/>
            <a:ext cx="6384172" cy="39598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1F554E-5C7C-12AB-F78D-57F303A70B2C}"/>
              </a:ext>
            </a:extLst>
          </p:cNvPr>
          <p:cNvSpPr txBox="1"/>
          <p:nvPr/>
        </p:nvSpPr>
        <p:spPr>
          <a:xfrm>
            <a:off x="6082253" y="356406"/>
            <a:ext cx="3607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 Quality and Health Impacts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06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0E77-B703-6F88-10F1-3B3ACF460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17" y="295729"/>
            <a:ext cx="5624284" cy="576107"/>
          </a:xfrm>
        </p:spPr>
        <p:txBody>
          <a:bodyPr/>
          <a:lstStyle/>
          <a:p>
            <a:r>
              <a:rPr lang="en-US" b="1" dirty="0"/>
              <a:t>Initial EDA &amp; Visuals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7A52-4DAC-C462-BEBA-D1DA8E908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4F088-B38A-E2C4-841C-2921FC38A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16" y="2078336"/>
            <a:ext cx="4011384" cy="311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CF5687-4B71-22B5-E263-553A2C3A4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317" y="914400"/>
            <a:ext cx="4892724" cy="56478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B9D85C-D142-C865-8BF3-193F4EF4AF8B}"/>
              </a:ext>
            </a:extLst>
          </p:cNvPr>
          <p:cNvSpPr txBox="1"/>
          <p:nvPr/>
        </p:nvSpPr>
        <p:spPr>
          <a:xfrm>
            <a:off x="292312" y="1013421"/>
            <a:ext cx="5817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NYC Climate Budgeting Report: New Climate Investments And Reallocations In Executive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4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D80E-2E71-4650-BCBE-0E1CF323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CBD3-2E4D-00C9-D3CA-52F1C8A3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16" y="384506"/>
            <a:ext cx="8825657" cy="590132"/>
          </a:xfrm>
        </p:spPr>
        <p:txBody>
          <a:bodyPr/>
          <a:lstStyle/>
          <a:p>
            <a:r>
              <a:rPr lang="en-US" sz="3600" b="1" dirty="0"/>
              <a:t>Modeling Plan &amp; Synthesis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2267C-4270-E0F0-DA12-31F87A52E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256" y="1360699"/>
            <a:ext cx="3606800" cy="4619294"/>
          </a:xfrm>
        </p:spPr>
        <p:txBody>
          <a:bodyPr>
            <a:noAutofit/>
          </a:bodyPr>
          <a:lstStyle/>
          <a:p>
            <a:pPr fontAlgn="t"/>
            <a:r>
              <a:rPr lang="en-US" sz="1400" b="1" dirty="0">
                <a:solidFill>
                  <a:schemeClr val="bg1"/>
                </a:solidFill>
              </a:rPr>
              <a:t>1. Data Preparation &amp; Spatial Harmonization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Aggregate air quality measurements into annual and seasonal neighborhood averages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Standardize geography across: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UHF Neighborhoods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Community Districts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City Council Districts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Create a unified spatial framework for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41EBB-6EB1-F0E9-7645-3B1B5686D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ECC33-4D93-C849-4912-EAB819D71EB9}"/>
              </a:ext>
            </a:extLst>
          </p:cNvPr>
          <p:cNvSpPr txBox="1"/>
          <p:nvPr/>
        </p:nvSpPr>
        <p:spPr>
          <a:xfrm>
            <a:off x="3987056" y="1183574"/>
            <a:ext cx="3560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1400" b="1" dirty="0">
                <a:solidFill>
                  <a:schemeClr val="bg1"/>
                </a:solidFill>
                <a:latin typeface="+mj-lt"/>
              </a:rPr>
              <a:t>2. Correlation &amp; Spatial Analysis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Assess relationships between air pollution and health outcomes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Analyze associations with: 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Asthma-related ED visits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Cardiovascular ED visits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Identify geographic hotspots and spatial patterns</a:t>
            </a:r>
          </a:p>
          <a:p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A3428-8338-4252-A418-11BF60F75EFD}"/>
              </a:ext>
            </a:extLst>
          </p:cNvPr>
          <p:cNvSpPr txBox="1"/>
          <p:nvPr/>
        </p:nvSpPr>
        <p:spPr>
          <a:xfrm>
            <a:off x="7823945" y="1183574"/>
            <a:ext cx="3606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1400" b="1" dirty="0">
                <a:solidFill>
                  <a:schemeClr val="bg1"/>
                </a:solidFill>
                <a:latin typeface="+mj-lt"/>
              </a:rPr>
              <a:t>3. Predictive Modeling &amp; Health Disparity Assessment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Develop multivariate and spatial regression models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Control for: 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Poverty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Demographic vulnerability</a:t>
            </a:r>
          </a:p>
          <a:p>
            <a:pPr marL="742950" lvl="1" indent="-28575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Traffic exposure</a:t>
            </a:r>
          </a:p>
          <a:p>
            <a:pPr marL="342900" indent="-342900" fontAlgn="t">
              <a:buClr>
                <a:schemeClr val="bg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Identify neighborhoods with disproportionate health impacts</a:t>
            </a:r>
          </a:p>
          <a:p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813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72D7-76F5-8558-4BCA-A4148CD8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28A5-FFEA-6A0D-54CF-BF6A684B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1662"/>
            <a:ext cx="10225089" cy="1251585"/>
          </a:xfrm>
        </p:spPr>
        <p:txBody>
          <a:bodyPr/>
          <a:lstStyle/>
          <a:p>
            <a:r>
              <a:rPr lang="en-US" b="1" dirty="0"/>
              <a:t>Open Questions &amp; Repo Link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6C57-A19B-21EE-B040-04A4BE424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2604836"/>
            <a:ext cx="10225089" cy="78558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Project Repository: https://github.com/derickh-nyu/NYU-Tandon-Career-Hub-Fall-2026-Data-Science-Bootcamp-Group-Project.git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8A11E-77E8-7DC6-8D07-EF0187C1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0685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44084-76B8-E53D-D37C-925272340BAB}"/>
              </a:ext>
            </a:extLst>
          </p:cNvPr>
          <p:cNvSpPr txBox="1"/>
          <p:nvPr/>
        </p:nvSpPr>
        <p:spPr>
          <a:xfrm>
            <a:off x="3919049" y="4927600"/>
            <a:ext cx="36792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89339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68">
      <a:majorFont>
        <a:latin typeface="Biome"/>
        <a:ea typeface=""/>
        <a:cs typeface=""/>
      </a:majorFont>
      <a:minorFont>
        <a:latin typeface="Century Gothic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148557_Win32_SL_V13" id="{568E52B1-822A-41EB-BE6D-702A4C4585E5}" vid="{557526E6-88EA-4959-A9E8-5DE4B22F2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B3ADB7-DE74-4AAA-B54E-3DA3F0193F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AF9574-7A06-4C8D-A3A0-6246119CBA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FA53FE-7FFB-4B01-8329-4A11334925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Fission presentation</Template>
  <TotalTime>66</TotalTime>
  <Words>827</Words>
  <Application>Microsoft Office PowerPoint</Application>
  <PresentationFormat>Widescreen</PresentationFormat>
  <Paragraphs>110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Biome</vt:lpstr>
      <vt:lpstr>Calibri</vt:lpstr>
      <vt:lpstr>Century Gothic</vt:lpstr>
      <vt:lpstr>Wingdings 3</vt:lpstr>
      <vt:lpstr>Ion</vt:lpstr>
      <vt:lpstr>Project Brief &amp; Mid-Program Presentation </vt:lpstr>
      <vt:lpstr>Problem Statement</vt:lpstr>
      <vt:lpstr>Data Profile &amp; Scope</vt:lpstr>
      <vt:lpstr>Initial EDA &amp; Visuals</vt:lpstr>
      <vt:lpstr>Initial EDA &amp; Visuals</vt:lpstr>
      <vt:lpstr>Modeling Plan &amp; Synthesis</vt:lpstr>
      <vt:lpstr>Open Questions &amp; Repo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Hansraj, Derick</dc:creator>
  <cp:lastModifiedBy>Hansraj, Derick</cp:lastModifiedBy>
  <cp:revision>1</cp:revision>
  <dcterms:created xsi:type="dcterms:W3CDTF">2026-10-29T14:35:15Z</dcterms:created>
  <dcterms:modified xsi:type="dcterms:W3CDTF">2026-10-29T15:42:12Z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